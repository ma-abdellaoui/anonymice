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6858000" cx="12192000"/>
  <p:notesSz cx="6858000" cy="9144000"/>
  <p:embeddedFontLst>
    <p:embeddedFont>
      <p:font typeface="Plus Jakarta Sans ExtraBold"/>
      <p:bold r:id="rId18"/>
      <p:boldItalic r:id="rId19"/>
    </p:embeddedFon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Plus Jakarta Sans"/>
      <p:regular r:id="rId28"/>
      <p:bold r:id="rId29"/>
      <p:italic r:id="rId30"/>
      <p:boldItalic r:id="rId31"/>
    </p:embeddedFont>
    <p:embeddedFont>
      <p:font typeface="Plus Jakarta Sans SemiBold"/>
      <p:regular r:id="rId32"/>
      <p:bold r:id="rId33"/>
      <p:italic r:id="rId34"/>
      <p:boldItalic r:id="rId35"/>
    </p:embeddedFont>
    <p:embeddedFont>
      <p:font typeface="Inter ExtraBold"/>
      <p:bold r:id="rId36"/>
      <p:boldItalic r:id="rId37"/>
    </p:embeddedFont>
    <p:embeddedFont>
      <p:font typeface="Inter Medium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Alaeddin Abdellaou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italic.fntdata"/><Relationship Id="rId20" Type="http://schemas.openxmlformats.org/officeDocument/2006/relationships/font" Target="fonts/InterSemiBold-regular.fntdata"/><Relationship Id="rId41" Type="http://schemas.openxmlformats.org/officeDocument/2006/relationships/font" Target="fonts/InterMedium-boldItalic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PlusJakartaSans-regular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lusJakartaSans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lusJakartaSans-boldItalic.fntdata"/><Relationship Id="rId30" Type="http://schemas.openxmlformats.org/officeDocument/2006/relationships/font" Target="fonts/PlusJakartaSans-italic.fntdata"/><Relationship Id="rId11" Type="http://schemas.openxmlformats.org/officeDocument/2006/relationships/slide" Target="slides/slide4.xml"/><Relationship Id="rId33" Type="http://schemas.openxmlformats.org/officeDocument/2006/relationships/font" Target="fonts/PlusJakartaSansSemiBold-bold.fntdata"/><Relationship Id="rId10" Type="http://schemas.openxmlformats.org/officeDocument/2006/relationships/slide" Target="slides/slide3.xml"/><Relationship Id="rId32" Type="http://schemas.openxmlformats.org/officeDocument/2006/relationships/font" Target="fonts/PlusJakartaSansSemiBold-regular.fntdata"/><Relationship Id="rId13" Type="http://schemas.openxmlformats.org/officeDocument/2006/relationships/slide" Target="slides/slide6.xml"/><Relationship Id="rId35" Type="http://schemas.openxmlformats.org/officeDocument/2006/relationships/font" Target="fonts/PlusJakartaSansSemiBold-boldItalic.fntdata"/><Relationship Id="rId12" Type="http://schemas.openxmlformats.org/officeDocument/2006/relationships/slide" Target="slides/slide5.xml"/><Relationship Id="rId34" Type="http://schemas.openxmlformats.org/officeDocument/2006/relationships/font" Target="fonts/PlusJakartaSansSemiBold-italic.fntdata"/><Relationship Id="rId15" Type="http://schemas.openxmlformats.org/officeDocument/2006/relationships/slide" Target="slides/slide8.xml"/><Relationship Id="rId37" Type="http://schemas.openxmlformats.org/officeDocument/2006/relationships/font" Target="fonts/InterExtraBold-boldItalic.fntdata"/><Relationship Id="rId14" Type="http://schemas.openxmlformats.org/officeDocument/2006/relationships/slide" Target="slides/slide7.xml"/><Relationship Id="rId36" Type="http://schemas.openxmlformats.org/officeDocument/2006/relationships/font" Target="fonts/InterExtraBold-bold.fntdata"/><Relationship Id="rId17" Type="http://schemas.openxmlformats.org/officeDocument/2006/relationships/slide" Target="slides/slide10.xml"/><Relationship Id="rId39" Type="http://schemas.openxmlformats.org/officeDocument/2006/relationships/font" Target="fonts/InterMedium-bold.fntdata"/><Relationship Id="rId16" Type="http://schemas.openxmlformats.org/officeDocument/2006/relationships/slide" Target="slides/slide9.xml"/><Relationship Id="rId38" Type="http://schemas.openxmlformats.org/officeDocument/2006/relationships/font" Target="fonts/InterMedium-regular.fntdata"/><Relationship Id="rId19" Type="http://schemas.openxmlformats.org/officeDocument/2006/relationships/font" Target="fonts/PlusJakartaSansExtraBold-boldItalic.fntdata"/><Relationship Id="rId18" Type="http://schemas.openxmlformats.org/officeDocument/2006/relationships/font" Target="fonts/PlusJakartaSansExtraBold-bold.fnt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22T20:08:24.076">
    <p:pos x="6000" y="0"/>
    <p:text>tbh, I find the red cat here a bit not fitting in the overall slide deck(color scheme wise). you showed some similar blue cat, maybe use that? 
I don`t have a very strong opinion about this, so its okay if you decide to keep it as is.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8-22T20:00:57.338">
    <p:pos x="5262" y="3142"/>
    <p:text>maybe "on-prem" deployment. that is a very trendy term currently and IT Leaders get very excited about it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8-22T19:59:08.658">
    <p:pos x="254" y="1593"/>
    <p:text>we dont do csc in that sense, we process raw text usign extension over raw test sent to external llm calls with openAI-compatible endpoints</p:text>
  </p:cm>
  <p:cm authorId="0" idx="4" dt="2026-08-22T19:59:46.209">
    <p:pos x="4135" y="2315"/>
    <p:text>I would prefere "external" models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8-22T20:42:14.735">
    <p:pos x="6000" y="0"/>
    <p:text>Very important: we should say here that we are publishing this as a Open-Source project and we are looking for contributors or people who want to further develop this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836726c1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836726c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836726c13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836726c1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3f8ef9f76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f3f8ef9f7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836726c13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f836726c13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3f8ef9f76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f3f8ef9f76_3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19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9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drive.google.com/file/d/1pATCUab6OsBy5yuqZh4AmXSFrZYny7__/view" TargetMode="External"/><Relationship Id="rId4" Type="http://schemas.openxmlformats.org/officeDocument/2006/relationships/image" Target="../media/image1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Relationship Id="rId4" Type="http://schemas.openxmlformats.org/officeDocument/2006/relationships/image" Target="../media/image19.png"/><Relationship Id="rId5" Type="http://schemas.openxmlformats.org/officeDocument/2006/relationships/image" Target="../media/image4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2.xml"/><Relationship Id="rId4" Type="http://schemas.openxmlformats.org/officeDocument/2006/relationships/image" Target="../media/image7.png"/><Relationship Id="rId11" Type="http://schemas.openxmlformats.org/officeDocument/2006/relationships/image" Target="../media/image14.png"/><Relationship Id="rId10" Type="http://schemas.openxmlformats.org/officeDocument/2006/relationships/image" Target="../media/image8.png"/><Relationship Id="rId12" Type="http://schemas.openxmlformats.org/officeDocument/2006/relationships/image" Target="../media/image21.png"/><Relationship Id="rId9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22.png"/><Relationship Id="rId7" Type="http://schemas.openxmlformats.org/officeDocument/2006/relationships/image" Target="../media/image27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image" Target="../media/image30.png"/><Relationship Id="rId13" Type="http://schemas.openxmlformats.org/officeDocument/2006/relationships/image" Target="../media/image26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3.xml"/><Relationship Id="rId4" Type="http://schemas.openxmlformats.org/officeDocument/2006/relationships/image" Target="../media/image12.png"/><Relationship Id="rId9" Type="http://schemas.openxmlformats.org/officeDocument/2006/relationships/image" Target="../media/image42.png"/><Relationship Id="rId5" Type="http://schemas.openxmlformats.org/officeDocument/2006/relationships/image" Target="../media/image15.png"/><Relationship Id="rId6" Type="http://schemas.openxmlformats.org/officeDocument/2006/relationships/image" Target="../media/image23.png"/><Relationship Id="rId7" Type="http://schemas.openxmlformats.org/officeDocument/2006/relationships/image" Target="../media/image45.png"/><Relationship Id="rId8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MiJOyMdojzKt-gzEAu3SR64DfRGXjPzW/view" TargetMode="External"/><Relationship Id="rId4" Type="http://schemas.openxmlformats.org/officeDocument/2006/relationships/image" Target="../media/image2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gif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Relationship Id="rId4" Type="http://schemas.openxmlformats.org/officeDocument/2006/relationships/image" Target="../media/image36.png"/><Relationship Id="rId9" Type="http://schemas.openxmlformats.org/officeDocument/2006/relationships/image" Target="../media/image34.png"/><Relationship Id="rId5" Type="http://schemas.openxmlformats.org/officeDocument/2006/relationships/image" Target="../media/image39.png"/><Relationship Id="rId6" Type="http://schemas.openxmlformats.org/officeDocument/2006/relationships/image" Target="../media/image37.png"/><Relationship Id="rId7" Type="http://schemas.openxmlformats.org/officeDocument/2006/relationships/image" Target="../media/image41.png"/><Relationship Id="rId8" Type="http://schemas.openxmlformats.org/officeDocument/2006/relationships/image" Target="../media/image44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4.xml"/><Relationship Id="rId4" Type="http://schemas.openxmlformats.org/officeDocument/2006/relationships/image" Target="../media/image38.png"/><Relationship Id="rId9" Type="http://schemas.openxmlformats.org/officeDocument/2006/relationships/image" Target="../media/image35.png"/><Relationship Id="rId5" Type="http://schemas.openxmlformats.org/officeDocument/2006/relationships/image" Target="../media/image46.png"/><Relationship Id="rId6" Type="http://schemas.openxmlformats.org/officeDocument/2006/relationships/image" Target="../media/image14.png"/><Relationship Id="rId7" Type="http://schemas.openxmlformats.org/officeDocument/2006/relationships/image" Target="../media/image43.png"/><Relationship Id="rId8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5" title="v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9938" y="0"/>
            <a:ext cx="5572126" cy="7429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9400" y="152400"/>
            <a:ext cx="6553201" cy="655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7000" y="0"/>
            <a:ext cx="6858001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F2E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691955"/>
            <a:ext cx="762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2242" y="1228725"/>
            <a:ext cx="4400550" cy="440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7"/>
          <p:cNvSpPr txBox="1"/>
          <p:nvPr/>
        </p:nvSpPr>
        <p:spPr>
          <a:xfrm>
            <a:off x="609600" y="2642294"/>
            <a:ext cx="602262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Anonymice</a:t>
            </a:r>
            <a:endParaRPr/>
          </a:p>
        </p:txBody>
      </p:sp>
      <p:sp>
        <p:nvSpPr>
          <p:cNvPr id="173" name="Google Shape;173;p27"/>
          <p:cNvSpPr txBox="1"/>
          <p:nvPr/>
        </p:nvSpPr>
        <p:spPr>
          <a:xfrm>
            <a:off x="609600" y="3423344"/>
            <a:ext cx="573583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Protector of Privacy, Guardian of the Small Folk</a:t>
            </a:r>
            <a:endParaRPr/>
          </a:p>
        </p:txBody>
      </p:sp>
      <p:sp>
        <p:nvSpPr>
          <p:cNvPr id="174" name="Google Shape;174;p27"/>
          <p:cNvSpPr txBox="1"/>
          <p:nvPr/>
        </p:nvSpPr>
        <p:spPr>
          <a:xfrm>
            <a:off x="609600" y="3872805"/>
            <a:ext cx="573583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Zero-Trust Intelligent PII Anonymization &amp; 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Reversible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Redaction for LLM Workflows.</a:t>
            </a:r>
            <a:endParaRPr/>
          </a:p>
        </p:txBody>
      </p:sp>
      <p:pic>
        <p:nvPicPr>
          <p:cNvPr descr="image.png" id="175" name="Google Shape;17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92267" y="1428750"/>
            <a:ext cx="4000500" cy="4000500"/>
          </a:xfrm>
          <a:prstGeom prst="rect">
            <a:avLst/>
          </a:prstGeom>
          <a:noFill/>
          <a:ln cap="flat" cmpd="sng" w="9525">
            <a:solidFill>
              <a:srgbClr val="1084A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75" y="2323414"/>
            <a:ext cx="6465604" cy="13282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7875" y="3874894"/>
            <a:ext cx="6465604" cy="132824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8"/>
          <p:cNvSpPr txBox="1"/>
          <p:nvPr/>
        </p:nvSpPr>
        <p:spPr>
          <a:xfrm>
            <a:off x="609600" y="533400"/>
            <a:ext cx="10972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PROBLEM</a:t>
            </a:r>
            <a:endParaRPr/>
          </a:p>
        </p:txBody>
      </p:sp>
      <p:sp>
        <p:nvSpPr>
          <p:cNvPr id="183" name="Google Shape;183;p28"/>
          <p:cNvSpPr txBox="1"/>
          <p:nvPr/>
        </p:nvSpPr>
        <p:spPr>
          <a:xfrm>
            <a:off x="609600" y="781050"/>
            <a:ext cx="1152144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Unintentional Data Leaks to Cloud LLMs</a:t>
            </a:r>
            <a:endParaRPr/>
          </a:p>
        </p:txBody>
      </p:sp>
      <p:pic>
        <p:nvPicPr>
          <p:cNvPr descr="image.png" id="184" name="Google Shape;18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7650" y="1987326"/>
            <a:ext cx="4978125" cy="329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8"/>
          <p:cNvSpPr txBox="1"/>
          <p:nvPr/>
        </p:nvSpPr>
        <p:spPr>
          <a:xfrm>
            <a:off x="946398" y="5439667"/>
            <a:ext cx="44005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Employees routinely paste sensitive documents into AI prompts.</a:t>
            </a:r>
            <a:endParaRPr/>
          </a:p>
        </p:txBody>
      </p:sp>
      <p:pic>
        <p:nvPicPr>
          <p:cNvPr descr="image.png" id="186" name="Google Shape;18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36919" y="2719656"/>
            <a:ext cx="535763" cy="535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36919" y="4271135"/>
            <a:ext cx="535763" cy="535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76442" y="2875920"/>
            <a:ext cx="256720" cy="22323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8"/>
          <p:cNvSpPr txBox="1"/>
          <p:nvPr/>
        </p:nvSpPr>
        <p:spPr>
          <a:xfrm>
            <a:off x="6251272" y="2602457"/>
            <a:ext cx="54528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82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Exposed Identity Records</a:t>
            </a:r>
            <a:endParaRPr sz="1641"/>
          </a:p>
        </p:txBody>
      </p:sp>
      <p:sp>
        <p:nvSpPr>
          <p:cNvPr id="190" name="Google Shape;190;p28"/>
          <p:cNvSpPr txBox="1"/>
          <p:nvPr/>
        </p:nvSpPr>
        <p:spPr>
          <a:xfrm>
            <a:off x="6251272" y="2903824"/>
            <a:ext cx="51930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Unstructured text exposes names, emails, and credentials.</a:t>
            </a:r>
            <a:endParaRPr sz="1641"/>
          </a:p>
        </p:txBody>
      </p:sp>
      <p:pic>
        <p:nvPicPr>
          <p:cNvPr descr="image.png" id="191" name="Google Shape;191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93184" y="4427400"/>
            <a:ext cx="223234" cy="22323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8"/>
          <p:cNvSpPr txBox="1"/>
          <p:nvPr/>
        </p:nvSpPr>
        <p:spPr>
          <a:xfrm>
            <a:off x="6251272" y="4153937"/>
            <a:ext cx="54528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82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Compliance Penalties</a:t>
            </a:r>
            <a:endParaRPr sz="1641"/>
          </a:p>
        </p:txBody>
      </p:sp>
      <p:sp>
        <p:nvSpPr>
          <p:cNvPr id="193" name="Google Shape;193;p28"/>
          <p:cNvSpPr txBox="1"/>
          <p:nvPr/>
        </p:nvSpPr>
        <p:spPr>
          <a:xfrm>
            <a:off x="6251272" y="4455303"/>
            <a:ext cx="51930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GDPR and HIPAA strictly penalize unmasked cloud transfers.</a:t>
            </a:r>
            <a:endParaRPr sz="164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874167"/>
            <a:ext cx="3505200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3874167"/>
            <a:ext cx="3505200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77200" y="3874167"/>
            <a:ext cx="3505200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9"/>
          <p:cNvSpPr txBox="1"/>
          <p:nvPr/>
        </p:nvSpPr>
        <p:spPr>
          <a:xfrm>
            <a:off x="609600" y="533400"/>
            <a:ext cx="10972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SOLUTION</a:t>
            </a:r>
            <a:endParaRPr/>
          </a:p>
        </p:txBody>
      </p:sp>
      <p:sp>
        <p:nvSpPr>
          <p:cNvPr id="202" name="Google Shape;202;p29"/>
          <p:cNvSpPr txBox="1"/>
          <p:nvPr/>
        </p:nvSpPr>
        <p:spPr>
          <a:xfrm>
            <a:off x="609600" y="781050"/>
            <a:ext cx="1152144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Zero-Trust Intelligent Anonymization</a:t>
            </a:r>
            <a:endParaRPr/>
          </a:p>
        </p:txBody>
      </p:sp>
      <p:pic>
        <p:nvPicPr>
          <p:cNvPr descr="image.png" id="203" name="Google Shape;20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825" y="4226592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9"/>
          <p:cNvSpPr txBox="1"/>
          <p:nvPr/>
        </p:nvSpPr>
        <p:spPr>
          <a:xfrm>
            <a:off x="885825" y="4988592"/>
            <a:ext cx="31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Contextual Redaction</a:t>
            </a:r>
            <a:endParaRPr/>
          </a:p>
        </p:txBody>
      </p:sp>
      <p:sp>
        <p:nvSpPr>
          <p:cNvPr id="205" name="Google Shape;205;p29"/>
          <p:cNvSpPr txBox="1"/>
          <p:nvPr/>
        </p:nvSpPr>
        <p:spPr>
          <a:xfrm>
            <a:off x="885825" y="5341017"/>
            <a:ext cx="29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Instant entity detection for sensitive personal data.</a:t>
            </a:r>
            <a:endParaRPr/>
          </a:p>
        </p:txBody>
      </p:sp>
      <p:pic>
        <p:nvPicPr>
          <p:cNvPr descr="image.png" id="206" name="Google Shape;206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19625" y="4226592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9"/>
          <p:cNvSpPr txBox="1"/>
          <p:nvPr/>
        </p:nvSpPr>
        <p:spPr>
          <a:xfrm>
            <a:off x="4619625" y="4988592"/>
            <a:ext cx="31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Reversible Mapping</a:t>
            </a:r>
            <a:endParaRPr/>
          </a:p>
        </p:txBody>
      </p:sp>
      <p:sp>
        <p:nvSpPr>
          <p:cNvPr id="208" name="Google Shape;208;p29"/>
          <p:cNvSpPr txBox="1"/>
          <p:nvPr/>
        </p:nvSpPr>
        <p:spPr>
          <a:xfrm>
            <a:off x="4619625" y="5341017"/>
            <a:ext cx="29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Secure cryptographic key mapping for output restoration.</a:t>
            </a:r>
            <a:endParaRPr/>
          </a:p>
        </p:txBody>
      </p:sp>
      <p:pic>
        <p:nvPicPr>
          <p:cNvPr descr="image.png" id="209" name="Google Shape;209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53425" y="4226592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9"/>
          <p:cNvSpPr txBox="1"/>
          <p:nvPr/>
        </p:nvSpPr>
        <p:spPr>
          <a:xfrm>
            <a:off x="8353425" y="4988592"/>
            <a:ext cx="310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Execution</a:t>
            </a:r>
            <a:endParaRPr/>
          </a:p>
        </p:txBody>
      </p:sp>
      <p:sp>
        <p:nvSpPr>
          <p:cNvPr id="211" name="Google Shape;211;p29"/>
          <p:cNvSpPr txBox="1"/>
          <p:nvPr/>
        </p:nvSpPr>
        <p:spPr>
          <a:xfrm>
            <a:off x="8353425" y="5341017"/>
            <a:ext cx="295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Zero external server calls or cloud dependencies.</a:t>
            </a:r>
            <a:endParaRPr/>
          </a:p>
        </p:txBody>
      </p:sp>
      <p:pic>
        <p:nvPicPr>
          <p:cNvPr descr="image.png" id="212" name="Google Shape;212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437899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72025" y="437899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77250" y="437899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738437" y="1623562"/>
            <a:ext cx="2022015" cy="2022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485652" y="2553945"/>
            <a:ext cx="4968054" cy="965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525" y="2529953"/>
            <a:ext cx="2512243" cy="1847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61427" y="2426203"/>
            <a:ext cx="2512243" cy="20552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8329" y="2529953"/>
            <a:ext cx="2512243" cy="1847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75231" y="2376550"/>
            <a:ext cx="2512243" cy="20552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63031" y="2816502"/>
            <a:ext cx="395240" cy="395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19933" y="2712752"/>
            <a:ext cx="395240" cy="395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76836" y="2816502"/>
            <a:ext cx="395240" cy="395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333738" y="2712752"/>
            <a:ext cx="395240" cy="39524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0"/>
          <p:cNvSpPr txBox="1"/>
          <p:nvPr/>
        </p:nvSpPr>
        <p:spPr>
          <a:xfrm>
            <a:off x="609600" y="533400"/>
            <a:ext cx="10972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ARCHITECTURE</a:t>
            </a:r>
            <a:endParaRPr/>
          </a:p>
        </p:txBody>
      </p:sp>
      <p:sp>
        <p:nvSpPr>
          <p:cNvPr id="230" name="Google Shape;230;p30"/>
          <p:cNvSpPr txBox="1"/>
          <p:nvPr/>
        </p:nvSpPr>
        <p:spPr>
          <a:xfrm>
            <a:off x="609600" y="781050"/>
            <a:ext cx="11521440" cy="41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Anonymice Secures Your Data Pipeline</a:t>
            </a:r>
            <a:endParaRPr/>
          </a:p>
        </p:txBody>
      </p:sp>
      <p:sp>
        <p:nvSpPr>
          <p:cNvPr id="231" name="Google Shape;231;p30"/>
          <p:cNvSpPr txBox="1"/>
          <p:nvPr/>
        </p:nvSpPr>
        <p:spPr>
          <a:xfrm>
            <a:off x="1209336" y="3369837"/>
            <a:ext cx="9024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Raw Input</a:t>
            </a:r>
            <a:endParaRPr sz="1452"/>
          </a:p>
        </p:txBody>
      </p:sp>
      <p:sp>
        <p:nvSpPr>
          <p:cNvPr id="232" name="Google Shape;232;p30"/>
          <p:cNvSpPr txBox="1"/>
          <p:nvPr/>
        </p:nvSpPr>
        <p:spPr>
          <a:xfrm>
            <a:off x="651551" y="3676148"/>
            <a:ext cx="201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Parse raw text documents locally.</a:t>
            </a:r>
            <a:endParaRPr sz="1452"/>
          </a:p>
        </p:txBody>
      </p:sp>
      <p:pic>
        <p:nvPicPr>
          <p:cNvPr descr="image.png" id="233" name="Google Shape;233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035353" y="3330313"/>
            <a:ext cx="207501" cy="237144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0"/>
          <p:cNvSpPr txBox="1"/>
          <p:nvPr/>
        </p:nvSpPr>
        <p:spPr>
          <a:xfrm>
            <a:off x="3958725" y="3157500"/>
            <a:ext cx="131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Named Entity</a:t>
            </a:r>
            <a:r>
              <a:rPr b="1" i="0" lang="en-US" sz="1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Detection</a:t>
            </a:r>
            <a:endParaRPr sz="1452"/>
          </a:p>
        </p:txBody>
      </p:sp>
      <p:sp>
        <p:nvSpPr>
          <p:cNvPr id="235" name="Google Shape;235;p30"/>
          <p:cNvSpPr txBox="1"/>
          <p:nvPr/>
        </p:nvSpPr>
        <p:spPr>
          <a:xfrm>
            <a:off x="3608453" y="3572398"/>
            <a:ext cx="20181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Identify entities with regex </a:t>
            </a:r>
            <a:r>
              <a:rPr lang="en-US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&amp; external</a:t>
            </a:r>
            <a:r>
              <a:rPr b="0" i="0" lang="en-US" sz="14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models.</a:t>
            </a:r>
            <a:endParaRPr sz="1452"/>
          </a:p>
        </p:txBody>
      </p:sp>
      <p:pic>
        <p:nvPicPr>
          <p:cNvPr descr="image.png" id="236" name="Google Shape;236;p3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992255" y="3330313"/>
            <a:ext cx="207501" cy="23714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0"/>
          <p:cNvSpPr txBox="1"/>
          <p:nvPr/>
        </p:nvSpPr>
        <p:spPr>
          <a:xfrm>
            <a:off x="6946764" y="3369837"/>
            <a:ext cx="12552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Safe LLM Pass</a:t>
            </a:r>
            <a:endParaRPr sz="1452"/>
          </a:p>
        </p:txBody>
      </p:sp>
      <p:sp>
        <p:nvSpPr>
          <p:cNvPr id="238" name="Google Shape;238;p30"/>
          <p:cNvSpPr txBox="1"/>
          <p:nvPr/>
        </p:nvSpPr>
        <p:spPr>
          <a:xfrm>
            <a:off x="6565355" y="3676148"/>
            <a:ext cx="201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Send </a:t>
            </a:r>
            <a:r>
              <a:rPr lang="en-US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encoded</a:t>
            </a:r>
            <a:r>
              <a:rPr b="0" i="0" lang="en-US" sz="14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prompts to cloud models.</a:t>
            </a:r>
            <a:endParaRPr sz="1452"/>
          </a:p>
        </p:txBody>
      </p:sp>
      <p:pic>
        <p:nvPicPr>
          <p:cNvPr descr="image.png" id="239" name="Google Shape;239;p3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949157" y="3330313"/>
            <a:ext cx="207501" cy="23714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0"/>
          <p:cNvSpPr txBox="1"/>
          <p:nvPr/>
        </p:nvSpPr>
        <p:spPr>
          <a:xfrm>
            <a:off x="9914042" y="3266087"/>
            <a:ext cx="12348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 Restore</a:t>
            </a:r>
            <a:endParaRPr sz="1452"/>
          </a:p>
        </p:txBody>
      </p:sp>
      <p:sp>
        <p:nvSpPr>
          <p:cNvPr id="241" name="Google Shape;241;p30"/>
          <p:cNvSpPr txBox="1"/>
          <p:nvPr/>
        </p:nvSpPr>
        <p:spPr>
          <a:xfrm>
            <a:off x="9522257" y="3572398"/>
            <a:ext cx="20181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decode </a:t>
            </a:r>
            <a:r>
              <a:rPr b="0" i="0" lang="en-US" sz="14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responses automatically on device.</a:t>
            </a:r>
            <a:endParaRPr sz="1452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1" title="example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98200"/>
            <a:ext cx="12191997" cy="6120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9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32" title="anonymiceswap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8225"/>
            <a:ext cx="12192000" cy="6934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 txBox="1"/>
          <p:nvPr/>
        </p:nvSpPr>
        <p:spPr>
          <a:xfrm>
            <a:off x="609600" y="533400"/>
            <a:ext cx="10972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ARCHITECTURE</a:t>
            </a:r>
            <a:endParaRPr/>
          </a:p>
        </p:txBody>
      </p:sp>
      <p:sp>
        <p:nvSpPr>
          <p:cNvPr id="257" name="Google Shape;257;p33"/>
          <p:cNvSpPr txBox="1"/>
          <p:nvPr/>
        </p:nvSpPr>
        <p:spPr>
          <a:xfrm>
            <a:off x="609600" y="781050"/>
            <a:ext cx="1152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Anonymice Secures Your Data Pipeline</a:t>
            </a:r>
            <a:endParaRPr/>
          </a:p>
        </p:txBody>
      </p:sp>
      <p:pic>
        <p:nvPicPr>
          <p:cNvPr descr="image.png" id="258" name="Google Shape;25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025" y="2162900"/>
            <a:ext cx="6800423" cy="361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914" y="4787852"/>
            <a:ext cx="6136643" cy="6537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05745" y="2587820"/>
            <a:ext cx="4383227" cy="2760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914" y="2756280"/>
            <a:ext cx="6136651" cy="120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914" y="3319488"/>
            <a:ext cx="6136651" cy="120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914" y="3882696"/>
            <a:ext cx="6136651" cy="120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914" y="4445904"/>
            <a:ext cx="6136651" cy="120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5773" y="5190144"/>
            <a:ext cx="5834934" cy="1408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5773" y="5190144"/>
            <a:ext cx="5712360" cy="140802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3"/>
          <p:cNvSpPr txBox="1"/>
          <p:nvPr/>
        </p:nvSpPr>
        <p:spPr>
          <a:xfrm>
            <a:off x="634914" y="2494790"/>
            <a:ext cx="61368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7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piiranha</a:t>
            </a:r>
            <a:r>
              <a:rPr b="0" i="0" lang="en-US" sz="1267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67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42.9% (</a:t>
            </a:r>
            <a:r>
              <a:rPr b="1" lang="en-US" sz="126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local)</a:t>
            </a:r>
            <a:endParaRPr sz="1478"/>
          </a:p>
        </p:txBody>
      </p:sp>
      <p:sp>
        <p:nvSpPr>
          <p:cNvPr id="268" name="Google Shape;268;p33"/>
          <p:cNvSpPr txBox="1"/>
          <p:nvPr/>
        </p:nvSpPr>
        <p:spPr>
          <a:xfrm>
            <a:off x="634914" y="3057999"/>
            <a:ext cx="61368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7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presidio (de)</a:t>
            </a:r>
            <a:r>
              <a:rPr b="0" i="0" lang="en-US" sz="1267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67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86.2%</a:t>
            </a:r>
            <a:endParaRPr sz="1478"/>
          </a:p>
        </p:txBody>
      </p:sp>
      <p:sp>
        <p:nvSpPr>
          <p:cNvPr id="269" name="Google Shape;269;p33"/>
          <p:cNvSpPr txBox="1"/>
          <p:nvPr/>
        </p:nvSpPr>
        <p:spPr>
          <a:xfrm>
            <a:off x="634914" y="3621207"/>
            <a:ext cx="61368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7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privacy-filter</a:t>
            </a:r>
            <a:r>
              <a:rPr b="0" i="0" lang="en-US" sz="1267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67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86.8% </a:t>
            </a:r>
            <a:r>
              <a:rPr b="1" lang="en-US" sz="126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(more GPU)</a:t>
            </a:r>
            <a:endParaRPr sz="1478"/>
          </a:p>
        </p:txBody>
      </p:sp>
      <p:sp>
        <p:nvSpPr>
          <p:cNvPr id="270" name="Google Shape;270;p33"/>
          <p:cNvSpPr txBox="1"/>
          <p:nvPr/>
        </p:nvSpPr>
        <p:spPr>
          <a:xfrm>
            <a:off x="634914" y="4184415"/>
            <a:ext cx="61368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7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privacy-filter + presidio</a:t>
            </a:r>
            <a:r>
              <a:rPr b="0" i="0" lang="en-US" sz="1267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67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94.7%</a:t>
            </a:r>
            <a:endParaRPr sz="1478"/>
          </a:p>
        </p:txBody>
      </p:sp>
      <p:sp>
        <p:nvSpPr>
          <p:cNvPr id="271" name="Google Shape;271;p33"/>
          <p:cNvSpPr txBox="1"/>
          <p:nvPr/>
        </p:nvSpPr>
        <p:spPr>
          <a:xfrm>
            <a:off x="785773" y="4898482"/>
            <a:ext cx="5834400" cy="1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7" u="none" cap="none" strike="noStrike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all three (Anonymice Ensemble)</a:t>
            </a:r>
            <a:r>
              <a:rPr b="0" i="0" lang="en-US" sz="1267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67" u="none" cap="none" strike="noStrike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97.9%</a:t>
            </a:r>
            <a:endParaRPr sz="1478"/>
          </a:p>
        </p:txBody>
      </p:sp>
      <p:sp>
        <p:nvSpPr>
          <p:cNvPr id="272" name="Google Shape;272;p33"/>
          <p:cNvSpPr txBox="1"/>
          <p:nvPr/>
        </p:nvSpPr>
        <p:spPr>
          <a:xfrm>
            <a:off x="7827577" y="3472861"/>
            <a:ext cx="3739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1" u="none" cap="none" strike="noStrike">
                <a:solidFill>
                  <a:srgbClr val="38BDF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97.9%</a:t>
            </a:r>
            <a:endParaRPr sz="1478"/>
          </a:p>
        </p:txBody>
      </p:sp>
      <p:sp>
        <p:nvSpPr>
          <p:cNvPr id="273" name="Google Shape;273;p33"/>
          <p:cNvSpPr txBox="1"/>
          <p:nvPr/>
        </p:nvSpPr>
        <p:spPr>
          <a:xfrm>
            <a:off x="7827577" y="4036070"/>
            <a:ext cx="3739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Combined Multi-Detector Recall</a:t>
            </a:r>
            <a:endParaRPr sz="1478"/>
          </a:p>
        </p:txBody>
      </p:sp>
      <p:sp>
        <p:nvSpPr>
          <p:cNvPr id="274" name="Google Shape;274;p33"/>
          <p:cNvSpPr txBox="1"/>
          <p:nvPr/>
        </p:nvSpPr>
        <p:spPr>
          <a:xfrm>
            <a:off x="7827577" y="4347846"/>
            <a:ext cx="3739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8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Single detectors leave critical privacy gaps. Combining models achieves near-total PERSON entity capture across unstructured text.</a:t>
            </a:r>
            <a:endParaRPr sz="1478"/>
          </a:p>
        </p:txBody>
      </p:sp>
      <p:sp>
        <p:nvSpPr>
          <p:cNvPr id="275" name="Google Shape;275;p33"/>
          <p:cNvSpPr/>
          <p:nvPr/>
        </p:nvSpPr>
        <p:spPr>
          <a:xfrm>
            <a:off x="634914" y="2756280"/>
            <a:ext cx="2632500" cy="120600"/>
          </a:xfrm>
          <a:prstGeom prst="roundRect">
            <a:avLst>
              <a:gd fmla="val 50000" name="adj"/>
            </a:avLst>
          </a:prstGeom>
          <a:solidFill>
            <a:srgbClr val="94A3B8"/>
          </a:solidFill>
          <a:ln>
            <a:noFill/>
          </a:ln>
        </p:spPr>
        <p:txBody>
          <a:bodyPr anchorCtr="0" anchor="ctr" bIns="48250" lIns="96525" spcFirstLastPara="1" rIns="96525" wrap="square" tIns="48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3"/>
          <p:cNvSpPr/>
          <p:nvPr/>
        </p:nvSpPr>
        <p:spPr>
          <a:xfrm>
            <a:off x="634914" y="3319488"/>
            <a:ext cx="5289900" cy="1206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8250" lIns="96525" spcFirstLastPara="1" rIns="96525" wrap="square" tIns="48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3"/>
          <p:cNvSpPr/>
          <p:nvPr/>
        </p:nvSpPr>
        <p:spPr>
          <a:xfrm>
            <a:off x="634914" y="3882696"/>
            <a:ext cx="5326800" cy="1206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8250" lIns="96525" spcFirstLastPara="1" rIns="96525" wrap="square" tIns="48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3"/>
          <p:cNvSpPr/>
          <p:nvPr/>
        </p:nvSpPr>
        <p:spPr>
          <a:xfrm>
            <a:off x="634914" y="4445904"/>
            <a:ext cx="5811300" cy="120600"/>
          </a:xfrm>
          <a:prstGeom prst="roundRect">
            <a:avLst>
              <a:gd fmla="val 50000" name="adj"/>
            </a:avLst>
          </a:prstGeom>
          <a:solidFill>
            <a:srgbClr val="0369A1"/>
          </a:solidFill>
          <a:ln>
            <a:noFill/>
          </a:ln>
        </p:spPr>
        <p:txBody>
          <a:bodyPr anchorCtr="0" anchor="ctr" bIns="48250" lIns="96525" spcFirstLastPara="1" rIns="96525" wrap="square" tIns="48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9" name="Google Shape;279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27577" y="2909653"/>
            <a:ext cx="402290" cy="40229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3"/>
          <p:cNvSpPr txBox="1"/>
          <p:nvPr/>
        </p:nvSpPr>
        <p:spPr>
          <a:xfrm>
            <a:off x="8350554" y="3020283"/>
            <a:ext cx="12273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9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TAKEAWAY</a:t>
            </a:r>
            <a:endParaRPr sz="1478"/>
          </a:p>
        </p:txBody>
      </p:sp>
      <p:pic>
        <p:nvPicPr>
          <p:cNvPr descr="image.png" id="281" name="Google Shape;281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28149" y="3010226"/>
            <a:ext cx="201145" cy="201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9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0600" y="497820"/>
            <a:ext cx="2290775" cy="22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4"/>
          <p:cNvSpPr txBox="1"/>
          <p:nvPr/>
        </p:nvSpPr>
        <p:spPr>
          <a:xfrm>
            <a:off x="5510212" y="2996505"/>
            <a:ext cx="11715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GET STARTED</a:t>
            </a:r>
            <a:endParaRPr/>
          </a:p>
        </p:txBody>
      </p:sp>
      <p:sp>
        <p:nvSpPr>
          <p:cNvPr id="288" name="Google Shape;288;p34"/>
          <p:cNvSpPr txBox="1"/>
          <p:nvPr/>
        </p:nvSpPr>
        <p:spPr>
          <a:xfrm>
            <a:off x="2290524" y="3282255"/>
            <a:ext cx="7611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Secure Your AI Workflows Today</a:t>
            </a:r>
            <a:endParaRPr/>
          </a:p>
        </p:txBody>
      </p:sp>
      <p:sp>
        <p:nvSpPr>
          <p:cNvPr id="289" name="Google Shape;289;p34"/>
          <p:cNvSpPr txBox="1"/>
          <p:nvPr/>
        </p:nvSpPr>
        <p:spPr>
          <a:xfrm>
            <a:off x="3238500" y="3937545"/>
            <a:ext cx="571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Open-source privacy protection built for modern enterprise pipelines. </a:t>
            </a:r>
            <a:endParaRPr/>
          </a:p>
        </p:txBody>
      </p:sp>
      <p:pic>
        <p:nvPicPr>
          <p:cNvPr descr="image.png" id="290" name="Google Shape;29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2325" y="5201633"/>
            <a:ext cx="2190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4"/>
          <p:cNvSpPr txBox="1"/>
          <p:nvPr/>
        </p:nvSpPr>
        <p:spPr>
          <a:xfrm>
            <a:off x="5290200" y="5211975"/>
            <a:ext cx="313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ma-abdellaoui.github.io/anonymice</a:t>
            </a:r>
            <a:endParaRPr/>
          </a:p>
        </p:txBody>
      </p:sp>
      <p:pic>
        <p:nvPicPr>
          <p:cNvPr id="292" name="Google Shape;292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0613" y="497826"/>
            <a:ext cx="2290775" cy="229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26125" y="4676475"/>
            <a:ext cx="1604609" cy="16046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12330" y="5914370"/>
            <a:ext cx="2006182" cy="366721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4"/>
          <p:cNvSpPr txBox="1"/>
          <p:nvPr/>
        </p:nvSpPr>
        <p:spPr>
          <a:xfrm>
            <a:off x="5180986" y="4811277"/>
            <a:ext cx="4524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59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We'd Love to Have You On Board!</a:t>
            </a:r>
            <a:endParaRPr sz="874"/>
          </a:p>
        </p:txBody>
      </p:sp>
      <p:sp>
        <p:nvSpPr>
          <p:cNvPr id="296" name="Google Shape;296;p34"/>
          <p:cNvSpPr txBox="1"/>
          <p:nvPr/>
        </p:nvSpPr>
        <p:spPr>
          <a:xfrm>
            <a:off x="5117263" y="6022229"/>
            <a:ext cx="15960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4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JOIN THE MISSION</a:t>
            </a:r>
            <a:endParaRPr sz="1585"/>
          </a:p>
        </p:txBody>
      </p:sp>
      <p:pic>
        <p:nvPicPr>
          <p:cNvPr descr="image.png" id="297" name="Google Shape;297;p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12325" y="4860139"/>
            <a:ext cx="2190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3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26613" y="5567297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4"/>
          <p:cNvSpPr txBox="1"/>
          <p:nvPr/>
        </p:nvSpPr>
        <p:spPr>
          <a:xfrm>
            <a:off x="5335925" y="5552647"/>
            <a:ext cx="95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Share &amp; Star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